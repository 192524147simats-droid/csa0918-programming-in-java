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61" r:id="rId6"/>
    <p:sldId id="258" r:id="rId7"/>
    <p:sldId id="262" r:id="rId8"/>
    <p:sldId id="267" r:id="rId9"/>
    <p:sldId id="264" r:id="rId10"/>
    <p:sldId id="265" r:id="rId11"/>
    <p:sldId id="270" r:id="rId12"/>
    <p:sldId id="268"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E2C6D-9D3F-32ED-C02E-C305155705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20B45B-47DD-4021-7348-47E236DBA2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FB7D4D-C426-9FF5-C509-3D99745A341E}"/>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5" name="Footer Placeholder 4">
            <a:extLst>
              <a:ext uri="{FF2B5EF4-FFF2-40B4-BE49-F238E27FC236}">
                <a16:creationId xmlns:a16="http://schemas.microsoft.com/office/drawing/2014/main" id="{D93B669E-3D49-4808-FC6F-4D810DC97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BC5983-906C-B1B8-D59B-C54E932766B6}"/>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4111229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50E6-B83D-F32B-F2B7-0AD3B34D20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B8E5AD-60CB-AA08-F0DF-EFA17FE579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189B0E-6AEA-F5E6-F460-E1A7FA8291B1}"/>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5" name="Footer Placeholder 4">
            <a:extLst>
              <a:ext uri="{FF2B5EF4-FFF2-40B4-BE49-F238E27FC236}">
                <a16:creationId xmlns:a16="http://schemas.microsoft.com/office/drawing/2014/main" id="{6863DE54-D50B-C1B8-34E2-D2714AE407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16B078-454F-5E69-D19F-BEA8473DA37F}"/>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3928267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196B-8850-6B9F-9220-DE77379603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CADFCEC-7C9C-A2D2-EEE0-FDB9113F49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9C678-1893-D14B-0AA3-552E5B5FBBF5}"/>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5" name="Footer Placeholder 4">
            <a:extLst>
              <a:ext uri="{FF2B5EF4-FFF2-40B4-BE49-F238E27FC236}">
                <a16:creationId xmlns:a16="http://schemas.microsoft.com/office/drawing/2014/main" id="{833DA44B-75A1-7627-D148-6B09FA3D52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5F5FE4-50D9-4794-2BF3-296E5291ABC1}"/>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514016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C3F4A-4F50-B060-34D1-075F13E7E2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FEAB33-BAA9-A09D-2138-79778CA5D8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4006FC-0192-FF8C-CAC1-AF5038D9A2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517DBC-1351-009A-B4BF-B31C65F1F212}"/>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6" name="Footer Placeholder 5">
            <a:extLst>
              <a:ext uri="{FF2B5EF4-FFF2-40B4-BE49-F238E27FC236}">
                <a16:creationId xmlns:a16="http://schemas.microsoft.com/office/drawing/2014/main" id="{6FDCE7E4-1300-A66C-3918-9E62A77229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9B42F4-4DFE-77D8-F9CF-8D2E377C9454}"/>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32711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722A-32D2-C6A9-69E8-CF4E59AE80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4B4C29-9613-6307-C2D7-61C3EE0854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28B7F7-4EE5-5614-13B9-F5C2BE5173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6C431B-26F4-FF63-84F4-BF4B46550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F2529D-9BA8-8382-ECB2-56AED1C6D4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3B311CE-65F6-B997-2F3F-8B3E226C0080}"/>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8" name="Footer Placeholder 7">
            <a:extLst>
              <a:ext uri="{FF2B5EF4-FFF2-40B4-BE49-F238E27FC236}">
                <a16:creationId xmlns:a16="http://schemas.microsoft.com/office/drawing/2014/main" id="{DE590C73-0F9E-3337-519E-2DBA2D173D6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FB9002-2D83-20AF-4AFB-E5A3D4DF5131}"/>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32298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7D96-93FA-507E-81C5-190955EE1C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F9A4B4-C7DA-90FE-D739-1486DCCF6DED}"/>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4" name="Footer Placeholder 3">
            <a:extLst>
              <a:ext uri="{FF2B5EF4-FFF2-40B4-BE49-F238E27FC236}">
                <a16:creationId xmlns:a16="http://schemas.microsoft.com/office/drawing/2014/main" id="{F3A8E4D4-2242-8D4F-9253-239852D94E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364DE3-7E6B-C50E-BD5C-494FDC3920EB}"/>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2948666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C15CD6-5462-E965-445D-36600EE00A09}"/>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3" name="Footer Placeholder 2">
            <a:extLst>
              <a:ext uri="{FF2B5EF4-FFF2-40B4-BE49-F238E27FC236}">
                <a16:creationId xmlns:a16="http://schemas.microsoft.com/office/drawing/2014/main" id="{8054B14C-2E9C-A373-4199-04CDBB5E44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4EAF96-9547-DAC0-8000-CE79BA3BF5AF}"/>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3108914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3AF51-C96B-60B0-0192-ABE9EE1F04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A2273-DAF5-5313-41A4-F6C7593C17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F00F37-2B67-E11A-40CC-CFD1C1686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EAB90-0D31-9AF0-90FA-31A8AD7A8835}"/>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6" name="Footer Placeholder 5">
            <a:extLst>
              <a:ext uri="{FF2B5EF4-FFF2-40B4-BE49-F238E27FC236}">
                <a16:creationId xmlns:a16="http://schemas.microsoft.com/office/drawing/2014/main" id="{9B7F5775-A93B-C333-9873-4954767BFC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737A10-BE62-0449-399E-CC00B8FEAF58}"/>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3498453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C071-1DB4-BAFD-5D09-F64AB93B1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DFE9D1-8C9E-1EA6-039B-A06D8A9BC9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F344BD-B1D2-F747-9D1A-BF4860E4E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F687CB-20E6-FDF2-B2AD-765EE9959E91}"/>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6" name="Footer Placeholder 5">
            <a:extLst>
              <a:ext uri="{FF2B5EF4-FFF2-40B4-BE49-F238E27FC236}">
                <a16:creationId xmlns:a16="http://schemas.microsoft.com/office/drawing/2014/main" id="{81E4EF07-6A68-064F-E334-77F00CACDE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66705F-1CD2-01C3-EF26-BF962A00611B}"/>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3014553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531C-2F74-4DEB-03EA-0AE6217AFB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CF6981-C7C6-E7B9-4968-BBBBF59D3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7F55F7-EB4F-B1B4-0876-8B4C474F149D}"/>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5" name="Footer Placeholder 4">
            <a:extLst>
              <a:ext uri="{FF2B5EF4-FFF2-40B4-BE49-F238E27FC236}">
                <a16:creationId xmlns:a16="http://schemas.microsoft.com/office/drawing/2014/main" id="{FBABE37D-6A37-583C-2059-9108A44E4B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CDD8A2-3976-C2B7-79CE-A2B7E86988A5}"/>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807569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224B76-5AF6-2283-F9F9-FFEDBEBFCB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9B517D-3048-78F8-E3D4-F8CF8A9C6E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049D4A-B252-A7DE-7760-CB16631F6663}"/>
              </a:ext>
            </a:extLst>
          </p:cNvPr>
          <p:cNvSpPr>
            <a:spLocks noGrp="1"/>
          </p:cNvSpPr>
          <p:nvPr>
            <p:ph type="dt" sz="half" idx="10"/>
          </p:nvPr>
        </p:nvSpPr>
        <p:spPr/>
        <p:txBody>
          <a:bodyPr/>
          <a:lstStyle/>
          <a:p>
            <a:fld id="{64249EC7-E70C-4BB3-9D55-F899FA986017}" type="datetimeFigureOut">
              <a:rPr lang="en-IN" smtClean="0"/>
              <a:t>03-08-2026</a:t>
            </a:fld>
            <a:endParaRPr lang="en-IN"/>
          </a:p>
        </p:txBody>
      </p:sp>
      <p:sp>
        <p:nvSpPr>
          <p:cNvPr id="5" name="Footer Placeholder 4">
            <a:extLst>
              <a:ext uri="{FF2B5EF4-FFF2-40B4-BE49-F238E27FC236}">
                <a16:creationId xmlns:a16="http://schemas.microsoft.com/office/drawing/2014/main" id="{DD6A4B5D-0710-63F9-77A2-E0262AD100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6871CB-CD82-34F3-ABB3-9998B49053FD}"/>
              </a:ext>
            </a:extLst>
          </p:cNvPr>
          <p:cNvSpPr>
            <a:spLocks noGrp="1"/>
          </p:cNvSpPr>
          <p:nvPr>
            <p:ph type="sldNum" sz="quarter" idx="12"/>
          </p:nvPr>
        </p:nvSpPr>
        <p:spPr/>
        <p:txBody>
          <a:bodyPr/>
          <a:lstStyle/>
          <a:p>
            <a:fld id="{4BC8A2F4-4701-4924-B7C7-FF8EC045F3E5}" type="slidenum">
              <a:rPr lang="en-IN" smtClean="0"/>
              <a:t>‹#›</a:t>
            </a:fld>
            <a:endParaRPr lang="en-IN"/>
          </a:p>
        </p:txBody>
      </p:sp>
    </p:spTree>
    <p:extLst>
      <p:ext uri="{BB962C8B-B14F-4D97-AF65-F5344CB8AC3E}">
        <p14:creationId xmlns:p14="http://schemas.microsoft.com/office/powerpoint/2010/main" val="768939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82B246-6C84-7129-A9BA-152F8706E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5BCB92-BE3C-5E8F-02B8-1E7F54787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0111D3-4085-0641-7068-F770B8370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249EC7-E70C-4BB3-9D55-F899FA986017}" type="datetimeFigureOut">
              <a:rPr lang="en-IN" smtClean="0"/>
              <a:t>03-08-2026</a:t>
            </a:fld>
            <a:endParaRPr lang="en-IN"/>
          </a:p>
        </p:txBody>
      </p:sp>
      <p:sp>
        <p:nvSpPr>
          <p:cNvPr id="5" name="Footer Placeholder 4">
            <a:extLst>
              <a:ext uri="{FF2B5EF4-FFF2-40B4-BE49-F238E27FC236}">
                <a16:creationId xmlns:a16="http://schemas.microsoft.com/office/drawing/2014/main" id="{9F14FA27-0245-40DC-9A7E-9BB209FF04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841C257-64E7-50C2-62EC-4C0B83A1E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C8A2F4-4701-4924-B7C7-FF8EC045F3E5}" type="slidenum">
              <a:rPr lang="en-IN" smtClean="0"/>
              <a:t>‹#›</a:t>
            </a:fld>
            <a:endParaRPr lang="en-IN"/>
          </a:p>
        </p:txBody>
      </p:sp>
    </p:spTree>
    <p:extLst>
      <p:ext uri="{BB962C8B-B14F-4D97-AF65-F5344CB8AC3E}">
        <p14:creationId xmlns:p14="http://schemas.microsoft.com/office/powerpoint/2010/main" val="2057725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FF51-6A99-8691-F246-C4044EE5868C}"/>
              </a:ext>
            </a:extLst>
          </p:cNvPr>
          <p:cNvSpPr>
            <a:spLocks noGrp="1"/>
          </p:cNvSpPr>
          <p:nvPr>
            <p:ph type="ctrTitle"/>
          </p:nvPr>
        </p:nvSpPr>
        <p:spPr>
          <a:xfrm>
            <a:off x="1524000" y="1540041"/>
            <a:ext cx="9144000" cy="1969921"/>
          </a:xfrm>
        </p:spPr>
        <p:txBody>
          <a:bodyPr>
            <a:normAutofit/>
          </a:bodyPr>
          <a:lstStyle/>
          <a:p>
            <a:r>
              <a:rPr lang="en-IN" sz="4000" dirty="0">
                <a:solidFill>
                  <a:schemeClr val="accent1">
                    <a:lumMod val="60000"/>
                    <a:lumOff val="40000"/>
                  </a:schemeClr>
                </a:solidFill>
                <a:latin typeface="Algerian" panose="04020705040A02060702" pitchFamily="82" charset="0"/>
                <a:cs typeface="Times New Roman" panose="02020603050405020304" pitchFamily="18" charset="0"/>
              </a:rPr>
              <a:t>Cybersecurity Incident, Vulnerability and Response Workflow Platform</a:t>
            </a:r>
          </a:p>
        </p:txBody>
      </p:sp>
      <p:sp>
        <p:nvSpPr>
          <p:cNvPr id="3" name="Subtitle 2">
            <a:extLst>
              <a:ext uri="{FF2B5EF4-FFF2-40B4-BE49-F238E27FC236}">
                <a16:creationId xmlns:a16="http://schemas.microsoft.com/office/drawing/2014/main" id="{3692D983-73D8-62EB-3AC8-ECF1BE1AD746}"/>
              </a:ext>
            </a:extLst>
          </p:cNvPr>
          <p:cNvSpPr>
            <a:spLocks noGrp="1"/>
          </p:cNvSpPr>
          <p:nvPr>
            <p:ph type="subTitle" idx="1"/>
          </p:nvPr>
        </p:nvSpPr>
        <p:spPr>
          <a:xfrm>
            <a:off x="7551173" y="4434348"/>
            <a:ext cx="3932903" cy="1455175"/>
          </a:xfrm>
        </p:spPr>
        <p:txBody>
          <a:bodyPr>
            <a:normAutofit/>
          </a:bodyPr>
          <a:lstStyle/>
          <a:p>
            <a:r>
              <a:rPr lang="en-US" b="1" u="sng" dirty="0"/>
              <a:t>PRESENTED BY</a:t>
            </a:r>
          </a:p>
          <a:p>
            <a:r>
              <a:rPr lang="en-US" dirty="0"/>
              <a:t>P ROHINI(192524147)</a:t>
            </a:r>
          </a:p>
          <a:p>
            <a:r>
              <a:rPr lang="en-US" dirty="0"/>
              <a:t>S SHAINEY(192511378)</a:t>
            </a:r>
          </a:p>
        </p:txBody>
      </p:sp>
      <p:pic>
        <p:nvPicPr>
          <p:cNvPr id="4" name="Picture 3">
            <a:extLst>
              <a:ext uri="{FF2B5EF4-FFF2-40B4-BE49-F238E27FC236}">
                <a16:creationId xmlns:a16="http://schemas.microsoft.com/office/drawing/2014/main" id="{0DE064E0-17C1-B332-C529-0207B057013F}"/>
              </a:ext>
            </a:extLst>
          </p:cNvPr>
          <p:cNvPicPr/>
          <p:nvPr/>
        </p:nvPicPr>
        <p:blipFill>
          <a:blip r:embed="rId2"/>
          <a:stretch>
            <a:fillRect/>
          </a:stretch>
        </p:blipFill>
        <p:spPr>
          <a:xfrm>
            <a:off x="2476500" y="175850"/>
            <a:ext cx="7239000" cy="1109345"/>
          </a:xfrm>
          <a:prstGeom prst="rect">
            <a:avLst/>
          </a:prstGeom>
        </p:spPr>
      </p:pic>
      <p:sp>
        <p:nvSpPr>
          <p:cNvPr id="5" name="TextBox 4">
            <a:extLst>
              <a:ext uri="{FF2B5EF4-FFF2-40B4-BE49-F238E27FC236}">
                <a16:creationId xmlns:a16="http://schemas.microsoft.com/office/drawing/2014/main" id="{F814B437-027C-BC27-F382-4E8AC73BF676}"/>
              </a:ext>
            </a:extLst>
          </p:cNvPr>
          <p:cNvSpPr txBox="1"/>
          <p:nvPr/>
        </p:nvSpPr>
        <p:spPr>
          <a:xfrm>
            <a:off x="875071" y="4434348"/>
            <a:ext cx="6951406" cy="923330"/>
          </a:xfrm>
          <a:prstGeom prst="rect">
            <a:avLst/>
          </a:prstGeom>
          <a:noFill/>
        </p:spPr>
        <p:txBody>
          <a:bodyPr wrap="square" rtlCol="0">
            <a:spAutoFit/>
          </a:bodyPr>
          <a:lstStyle/>
          <a:p>
            <a:r>
              <a:rPr lang="en-US" b="1" u="sng" dirty="0"/>
              <a:t>COURSE NAME</a:t>
            </a:r>
            <a:r>
              <a:rPr lang="en-US" dirty="0"/>
              <a:t>: Programming in java</a:t>
            </a:r>
          </a:p>
          <a:p>
            <a:r>
              <a:rPr lang="en-US" b="1" u="sng" dirty="0"/>
              <a:t>COURSE CODE</a:t>
            </a:r>
            <a:r>
              <a:rPr lang="en-US" dirty="0"/>
              <a:t>: CSA0918</a:t>
            </a:r>
          </a:p>
          <a:p>
            <a:r>
              <a:rPr lang="en-US" b="1" u="sng" dirty="0"/>
              <a:t>FACUITY NAME</a:t>
            </a:r>
            <a:r>
              <a:rPr lang="en-US" dirty="0"/>
              <a:t>: Dr . S . Padmakala</a:t>
            </a:r>
            <a:endParaRPr lang="en-IN" dirty="0"/>
          </a:p>
        </p:txBody>
      </p:sp>
    </p:spTree>
    <p:extLst>
      <p:ext uri="{BB962C8B-B14F-4D97-AF65-F5344CB8AC3E}">
        <p14:creationId xmlns:p14="http://schemas.microsoft.com/office/powerpoint/2010/main" val="2308908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EE73-B6B2-FEBE-7D0B-9CC3136773A4}"/>
              </a:ext>
            </a:extLst>
          </p:cNvPr>
          <p:cNvSpPr>
            <a:spLocks noGrp="1"/>
          </p:cNvSpPr>
          <p:nvPr>
            <p:ph type="title"/>
          </p:nvPr>
        </p:nvSpPr>
        <p:spPr>
          <a:xfrm>
            <a:off x="671049" y="1220532"/>
            <a:ext cx="10515600" cy="1325563"/>
          </a:xfrm>
        </p:spPr>
        <p:txBody>
          <a:bodyPr>
            <a:normAutofit/>
          </a:bodyPr>
          <a:lstStyle/>
          <a:p>
            <a:r>
              <a:rPr lang="en-US" sz="5400" dirty="0">
                <a:latin typeface="Algerian" panose="04020705040A02060702" pitchFamily="82" charset="0"/>
              </a:rPr>
              <a:t>       Presentation </a:t>
            </a:r>
            <a:r>
              <a:rPr lang="en-US" sz="5400" dirty="0" err="1">
                <a:latin typeface="Algerian" panose="04020705040A02060702" pitchFamily="82" charset="0"/>
              </a:rPr>
              <a:t>OutliNE</a:t>
            </a:r>
            <a:r>
              <a:rPr lang="en-US" sz="5400" dirty="0">
                <a:latin typeface="Algerian" panose="04020705040A02060702" pitchFamily="82" charset="0"/>
              </a:rPr>
              <a:t> </a:t>
            </a:r>
            <a:endParaRPr lang="en-IN" sz="5400" dirty="0">
              <a:latin typeface="Algerian" panose="04020705040A02060702" pitchFamily="82" charset="0"/>
            </a:endParaRPr>
          </a:p>
        </p:txBody>
      </p:sp>
      <p:sp>
        <p:nvSpPr>
          <p:cNvPr id="3" name="Content Placeholder 2">
            <a:extLst>
              <a:ext uri="{FF2B5EF4-FFF2-40B4-BE49-F238E27FC236}">
                <a16:creationId xmlns:a16="http://schemas.microsoft.com/office/drawing/2014/main" id="{6F251AD8-5158-4968-CD15-ECCEA9D5790F}"/>
              </a:ext>
            </a:extLst>
          </p:cNvPr>
          <p:cNvSpPr>
            <a:spLocks noGrp="1"/>
          </p:cNvSpPr>
          <p:nvPr>
            <p:ph sz="half" idx="1"/>
          </p:nvPr>
        </p:nvSpPr>
        <p:spPr>
          <a:xfrm>
            <a:off x="838199" y="2118632"/>
            <a:ext cx="5181600" cy="4351338"/>
          </a:xfrm>
        </p:spPr>
        <p:txBody>
          <a:bodyPr>
            <a:normAutofit/>
          </a:bodyPr>
          <a:lstStyle/>
          <a:p>
            <a:endParaRPr lang="en-IN" dirty="0"/>
          </a:p>
          <a:p>
            <a:r>
              <a:rPr lang="en-IN" dirty="0"/>
              <a:t>Abstract</a:t>
            </a:r>
          </a:p>
          <a:p>
            <a:r>
              <a:rPr lang="en-IN" dirty="0"/>
              <a:t>Introduction</a:t>
            </a:r>
          </a:p>
          <a:p>
            <a:r>
              <a:rPr lang="en-IN" dirty="0"/>
              <a:t>Problem statement</a:t>
            </a:r>
          </a:p>
          <a:p>
            <a:r>
              <a:rPr lang="en-IN" dirty="0"/>
              <a:t>Objective</a:t>
            </a:r>
          </a:p>
          <a:p>
            <a:r>
              <a:rPr lang="en-IN" dirty="0"/>
              <a:t>Literature review</a:t>
            </a:r>
          </a:p>
          <a:p>
            <a:r>
              <a:rPr lang="en-IN" dirty="0"/>
              <a:t>Architecture Diagram</a:t>
            </a:r>
          </a:p>
          <a:p>
            <a:endParaRPr lang="en-IN" dirty="0"/>
          </a:p>
          <a:p>
            <a:endParaRPr lang="en-IN" dirty="0"/>
          </a:p>
          <a:p>
            <a:endParaRPr lang="en-US" dirty="0"/>
          </a:p>
          <a:p>
            <a:endParaRPr lang="en-IN" dirty="0"/>
          </a:p>
          <a:p>
            <a:endParaRPr lang="en-IN" dirty="0"/>
          </a:p>
        </p:txBody>
      </p:sp>
      <p:sp>
        <p:nvSpPr>
          <p:cNvPr id="8" name="Content Placeholder 7">
            <a:extLst>
              <a:ext uri="{FF2B5EF4-FFF2-40B4-BE49-F238E27FC236}">
                <a16:creationId xmlns:a16="http://schemas.microsoft.com/office/drawing/2014/main" id="{5C317C5C-1EA1-66BF-EA6C-89B3CC0E13EF}"/>
              </a:ext>
            </a:extLst>
          </p:cNvPr>
          <p:cNvSpPr>
            <a:spLocks noGrp="1"/>
          </p:cNvSpPr>
          <p:nvPr>
            <p:ph sz="half" idx="2"/>
          </p:nvPr>
        </p:nvSpPr>
        <p:spPr>
          <a:xfrm>
            <a:off x="6172203" y="2118632"/>
            <a:ext cx="5181600" cy="4351338"/>
          </a:xfrm>
        </p:spPr>
        <p:txBody>
          <a:bodyPr>
            <a:normAutofit/>
          </a:bodyPr>
          <a:lstStyle/>
          <a:p>
            <a:endParaRPr lang="en-US" dirty="0"/>
          </a:p>
          <a:p>
            <a:r>
              <a:rPr lang="en-US" dirty="0"/>
              <a:t>Module 1</a:t>
            </a:r>
          </a:p>
          <a:p>
            <a:r>
              <a:rPr lang="en-US" dirty="0"/>
              <a:t>Module 2</a:t>
            </a:r>
          </a:p>
          <a:p>
            <a:r>
              <a:rPr lang="en-US" dirty="0"/>
              <a:t>Future enhancement</a:t>
            </a:r>
          </a:p>
          <a:p>
            <a:r>
              <a:rPr lang="en-US" dirty="0"/>
              <a:t>Conclusion</a:t>
            </a:r>
          </a:p>
          <a:p>
            <a:r>
              <a:rPr lang="en-US" dirty="0"/>
              <a:t>References</a:t>
            </a:r>
          </a:p>
          <a:p>
            <a:pPr marL="0" indent="0" algn="r">
              <a:buNone/>
            </a:pPr>
            <a:endParaRPr lang="en-US" dirty="0"/>
          </a:p>
          <a:p>
            <a:endParaRPr lang="en-IN" dirty="0"/>
          </a:p>
        </p:txBody>
      </p:sp>
      <p:pic>
        <p:nvPicPr>
          <p:cNvPr id="4" name="Picture 3">
            <a:extLst>
              <a:ext uri="{FF2B5EF4-FFF2-40B4-BE49-F238E27FC236}">
                <a16:creationId xmlns:a16="http://schemas.microsoft.com/office/drawing/2014/main" id="{1FAD6B50-FBF0-A106-53B1-B04E3B628D31}"/>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1844184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EF56D-5210-A2DB-4A81-48F4F1A5B708}"/>
              </a:ext>
            </a:extLst>
          </p:cNvPr>
          <p:cNvSpPr>
            <a:spLocks noGrp="1"/>
          </p:cNvSpPr>
          <p:nvPr>
            <p:ph type="title"/>
          </p:nvPr>
        </p:nvSpPr>
        <p:spPr>
          <a:xfrm>
            <a:off x="838200" y="1137770"/>
            <a:ext cx="10515600" cy="1325563"/>
          </a:xfrm>
        </p:spPr>
        <p:txBody>
          <a:bodyPr>
            <a:normAutofit/>
          </a:bodyPr>
          <a:lstStyle/>
          <a:p>
            <a:r>
              <a:rPr lang="en-US" sz="4800" dirty="0">
                <a:latin typeface="Algerian" panose="04020705040A02060702" pitchFamily="82" charset="0"/>
              </a:rPr>
              <a:t>                      ABTRACT</a:t>
            </a:r>
            <a:endParaRPr lang="en-IN" sz="4800" dirty="0">
              <a:latin typeface="Algerian" panose="04020705040A02060702" pitchFamily="82" charset="0"/>
            </a:endParaRPr>
          </a:p>
        </p:txBody>
      </p:sp>
      <p:sp>
        <p:nvSpPr>
          <p:cNvPr id="4" name="Rectangle 1">
            <a:extLst>
              <a:ext uri="{FF2B5EF4-FFF2-40B4-BE49-F238E27FC236}">
                <a16:creationId xmlns:a16="http://schemas.microsoft.com/office/drawing/2014/main" id="{CE12EB54-0AE5-AB55-496C-48272FADACAA}"/>
              </a:ext>
            </a:extLst>
          </p:cNvPr>
          <p:cNvSpPr>
            <a:spLocks noGrp="1" noChangeArrowheads="1"/>
          </p:cNvSpPr>
          <p:nvPr>
            <p:ph idx="1"/>
          </p:nvPr>
        </p:nvSpPr>
        <p:spPr bwMode="auto">
          <a:xfrm>
            <a:off x="497176" y="2471366"/>
            <a:ext cx="1119764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IN" dirty="0">
                <a:latin typeface="Times New Roman" panose="02020603050405020304" pitchFamily="18" charset="0"/>
                <a:cs typeface="Times New Roman" panose="02020603050405020304" pitchFamily="18" charset="0"/>
              </a:rPr>
              <a:t>The Cybersecurity Incident, Vulnerability and Response Workflow Platform is a web-based security management system designed to detect cyber incidents, identify vulnerabilities, and automate response activities. The platform continuously monitors security logs,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suspicious activities, prioritizes incidents based on risk, and generates alerts and reports. It helps organizations improve security operations, minimize damage, and maintain a secure digital environment.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BD4C600-9E56-B50A-8BB0-77380FAB6344}"/>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3630413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DED5-1C19-2D6C-C176-ED18BDFD8B60}"/>
              </a:ext>
            </a:extLst>
          </p:cNvPr>
          <p:cNvSpPr>
            <a:spLocks noGrp="1"/>
          </p:cNvSpPr>
          <p:nvPr>
            <p:ph type="title"/>
          </p:nvPr>
        </p:nvSpPr>
        <p:spPr>
          <a:xfrm>
            <a:off x="739878" y="1129737"/>
            <a:ext cx="10515600" cy="1325563"/>
          </a:xfrm>
        </p:spPr>
        <p:txBody>
          <a:bodyPr>
            <a:normAutofit/>
          </a:bodyPr>
          <a:lstStyle/>
          <a:p>
            <a:r>
              <a:rPr lang="en-US" sz="4800" dirty="0">
                <a:latin typeface="Algerian" panose="04020705040A02060702" pitchFamily="82" charset="0"/>
              </a:rPr>
              <a:t>                  INTRODUCTION</a:t>
            </a:r>
            <a:endParaRPr lang="en-IN" sz="4800" dirty="0">
              <a:latin typeface="Algerian" panose="04020705040A02060702" pitchFamily="82" charset="0"/>
            </a:endParaRPr>
          </a:p>
        </p:txBody>
      </p:sp>
      <p:sp>
        <p:nvSpPr>
          <p:cNvPr id="3" name="Content Placeholder 2">
            <a:extLst>
              <a:ext uri="{FF2B5EF4-FFF2-40B4-BE49-F238E27FC236}">
                <a16:creationId xmlns:a16="http://schemas.microsoft.com/office/drawing/2014/main" id="{1F9C0852-9A6B-D82B-17E8-CA43969C8307}"/>
              </a:ext>
            </a:extLst>
          </p:cNvPr>
          <p:cNvSpPr>
            <a:spLocks noGrp="1"/>
          </p:cNvSpPr>
          <p:nvPr>
            <p:ph idx="1"/>
          </p:nvPr>
        </p:nvSpPr>
        <p:spPr>
          <a:xfrm>
            <a:off x="838200" y="2236573"/>
            <a:ext cx="10808368" cy="4351338"/>
          </a:xfrm>
        </p:spPr>
        <p:txBody>
          <a:bodyPr>
            <a:normAutofit/>
          </a:bodyPr>
          <a:lstStyle/>
          <a:p>
            <a:pPr lvl="0"/>
            <a:r>
              <a:rPr lang="en-IN" sz="2400" dirty="0">
                <a:latin typeface="Times New Roman" panose="02020603050405020304" pitchFamily="18" charset="0"/>
                <a:cs typeface="Times New Roman" panose="02020603050405020304" pitchFamily="18" charset="0"/>
              </a:rPr>
              <a:t>Cybersecurity protects computers, networks, applications, and data from cyber attacks such as hacking, malware, phishing, and ransomware. </a:t>
            </a:r>
          </a:p>
          <a:p>
            <a:pPr lvl="0"/>
            <a:r>
              <a:rPr lang="en-IN" sz="2400" dirty="0">
                <a:latin typeface="Times New Roman" panose="02020603050405020304" pitchFamily="18" charset="0"/>
                <a:cs typeface="Times New Roman" panose="02020603050405020304" pitchFamily="18" charset="0"/>
              </a:rPr>
              <a:t>Organizations face thousands of security alerts daily, making manual monitoring and response difficult. </a:t>
            </a:r>
          </a:p>
          <a:p>
            <a:pPr lvl="0"/>
            <a:r>
              <a:rPr lang="en-IN" sz="2400" dirty="0">
                <a:latin typeface="Times New Roman" panose="02020603050405020304" pitchFamily="18" charset="0"/>
                <a:cs typeface="Times New Roman" panose="02020603050405020304" pitchFamily="18" charset="0"/>
              </a:rPr>
              <a:t>This project provides a centralized platform to detect cyber incidents, identify vulnerabilities, and automate the response workflow. </a:t>
            </a:r>
          </a:p>
          <a:p>
            <a:pPr lvl="0"/>
            <a:r>
              <a:rPr lang="en-IN" sz="2400" dirty="0">
                <a:latin typeface="Times New Roman" panose="02020603050405020304" pitchFamily="18" charset="0"/>
                <a:cs typeface="Times New Roman" panose="02020603050405020304" pitchFamily="18" charset="0"/>
              </a:rPr>
              <a:t>It helps security teams prioritize threats, respond quickly, and reduce the risk of data breaches.</a:t>
            </a:r>
          </a:p>
          <a:p>
            <a:pPr lvl="0"/>
            <a:r>
              <a:rPr lang="en-IN" sz="2400" dirty="0">
                <a:latin typeface="Times New Roman" panose="02020603050405020304" pitchFamily="18" charset="0"/>
                <a:cs typeface="Times New Roman" panose="02020603050405020304" pitchFamily="18" charset="0"/>
              </a:rPr>
              <a:t>The platform also generates real-time dashboards and reports for effective security monitoring and management.</a:t>
            </a:r>
          </a:p>
          <a:p>
            <a:endParaRPr lang="en-IN" dirty="0"/>
          </a:p>
        </p:txBody>
      </p:sp>
      <p:pic>
        <p:nvPicPr>
          <p:cNvPr id="4" name="Picture 3">
            <a:extLst>
              <a:ext uri="{FF2B5EF4-FFF2-40B4-BE49-F238E27FC236}">
                <a16:creationId xmlns:a16="http://schemas.microsoft.com/office/drawing/2014/main" id="{034493C8-472F-17C1-18C6-BAC6F367B17D}"/>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356506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2C1D5-FE73-228C-7A0D-212655ED646C}"/>
              </a:ext>
            </a:extLst>
          </p:cNvPr>
          <p:cNvSpPr>
            <a:spLocks noGrp="1"/>
          </p:cNvSpPr>
          <p:nvPr>
            <p:ph type="title"/>
          </p:nvPr>
        </p:nvSpPr>
        <p:spPr>
          <a:xfrm>
            <a:off x="572730" y="1129737"/>
            <a:ext cx="10515600" cy="1325563"/>
          </a:xfrm>
        </p:spPr>
        <p:txBody>
          <a:bodyPr>
            <a:normAutofit/>
          </a:bodyPr>
          <a:lstStyle/>
          <a:p>
            <a:r>
              <a:rPr lang="en-US" dirty="0">
                <a:latin typeface="Algerian" panose="04020705040A02060702" pitchFamily="82" charset="0"/>
              </a:rPr>
              <a:t>                PROBLEM STATEMENT</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42AFC771-2A3D-CECC-35E8-06F7FA861683}"/>
              </a:ext>
            </a:extLst>
          </p:cNvPr>
          <p:cNvSpPr>
            <a:spLocks noGrp="1"/>
          </p:cNvSpPr>
          <p:nvPr>
            <p:ph idx="1"/>
          </p:nvPr>
        </p:nvSpPr>
        <p:spPr>
          <a:xfrm>
            <a:off x="838200" y="2356566"/>
            <a:ext cx="10515600" cy="4172053"/>
          </a:xfrm>
        </p:spPr>
        <p:txBody>
          <a:bodyPr>
            <a:normAutofit lnSpcReduction="10000"/>
          </a:bodyPr>
          <a:lstStyle/>
          <a:p>
            <a:pPr lvl="0"/>
            <a:r>
              <a:rPr lang="en-IN" dirty="0">
                <a:latin typeface="Times New Roman" panose="02020603050405020304" pitchFamily="18" charset="0"/>
                <a:cs typeface="Times New Roman" panose="02020603050405020304" pitchFamily="18" charset="0"/>
              </a:rPr>
              <a:t>Existing security systems generate a large number of alerts, making it difficult to identify critical threats. </a:t>
            </a:r>
          </a:p>
          <a:p>
            <a:pPr lvl="0"/>
            <a:r>
              <a:rPr lang="en-IN" dirty="0">
                <a:latin typeface="Times New Roman" panose="02020603050405020304" pitchFamily="18" charset="0"/>
                <a:cs typeface="Times New Roman" panose="02020603050405020304" pitchFamily="18" charset="0"/>
              </a:rPr>
              <a:t>Manual incident detection and response consume time and may delay security actions. </a:t>
            </a:r>
          </a:p>
          <a:p>
            <a:pPr lvl="0"/>
            <a:r>
              <a:rPr lang="en-IN" dirty="0">
                <a:latin typeface="Times New Roman" panose="02020603050405020304" pitchFamily="18" charset="0"/>
                <a:cs typeface="Times New Roman" panose="02020603050405020304" pitchFamily="18" charset="0"/>
              </a:rPr>
              <a:t>Organizations face challenges in identifying and managing system vulnerabilities effectively. </a:t>
            </a:r>
          </a:p>
          <a:p>
            <a:pPr lvl="0"/>
            <a:r>
              <a:rPr lang="en-IN" dirty="0">
                <a:latin typeface="Times New Roman" panose="02020603050405020304" pitchFamily="18" charset="0"/>
                <a:cs typeface="Times New Roman" panose="02020603050405020304" pitchFamily="18" charset="0"/>
              </a:rPr>
              <a:t>There is no centralized platform to monitor incidents, track vulnerabilities, and automate the response process. </a:t>
            </a:r>
          </a:p>
          <a:p>
            <a:pPr lvl="0"/>
            <a:r>
              <a:rPr lang="en-IN" dirty="0">
                <a:latin typeface="Times New Roman" panose="02020603050405020304" pitchFamily="18" charset="0"/>
                <a:cs typeface="Times New Roman" panose="02020603050405020304" pitchFamily="18" charset="0"/>
              </a:rPr>
              <a:t>Delayed responses can lead to data breaches, financial loss, and service disruption.</a:t>
            </a:r>
          </a:p>
          <a:p>
            <a:endParaRPr lang="en-IN" dirty="0"/>
          </a:p>
        </p:txBody>
      </p:sp>
      <p:pic>
        <p:nvPicPr>
          <p:cNvPr id="4" name="Picture 3">
            <a:extLst>
              <a:ext uri="{FF2B5EF4-FFF2-40B4-BE49-F238E27FC236}">
                <a16:creationId xmlns:a16="http://schemas.microsoft.com/office/drawing/2014/main" id="{5EAF62FE-8A72-BDF9-50E0-96B75F8CDAB8}"/>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3253288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897D3-F492-948E-F6C0-AE3C0CAC7D29}"/>
              </a:ext>
            </a:extLst>
          </p:cNvPr>
          <p:cNvSpPr>
            <a:spLocks noGrp="1"/>
          </p:cNvSpPr>
          <p:nvPr>
            <p:ph type="title"/>
          </p:nvPr>
        </p:nvSpPr>
        <p:spPr>
          <a:xfrm>
            <a:off x="838200" y="1247519"/>
            <a:ext cx="10515600" cy="1325563"/>
          </a:xfrm>
        </p:spPr>
        <p:txBody>
          <a:bodyPr>
            <a:normAutofit/>
          </a:bodyPr>
          <a:lstStyle/>
          <a:p>
            <a:r>
              <a:rPr lang="en-US" sz="5400" dirty="0">
                <a:latin typeface="Algerian" panose="04020705040A02060702" pitchFamily="82" charset="0"/>
              </a:rPr>
              <a:t>                 Objective</a:t>
            </a:r>
            <a:endParaRPr lang="en-IN" sz="5400" dirty="0">
              <a:latin typeface="Algerian" panose="04020705040A02060702" pitchFamily="82" charset="0"/>
            </a:endParaRPr>
          </a:p>
        </p:txBody>
      </p:sp>
      <p:sp>
        <p:nvSpPr>
          <p:cNvPr id="20" name="Content Placeholder 19">
            <a:extLst>
              <a:ext uri="{FF2B5EF4-FFF2-40B4-BE49-F238E27FC236}">
                <a16:creationId xmlns:a16="http://schemas.microsoft.com/office/drawing/2014/main" id="{5B6F6AE9-DCE4-6F08-A8FB-DCF326DBBDA5}"/>
              </a:ext>
            </a:extLst>
          </p:cNvPr>
          <p:cNvSpPr>
            <a:spLocks noGrp="1"/>
          </p:cNvSpPr>
          <p:nvPr>
            <p:ph idx="1"/>
          </p:nvPr>
        </p:nvSpPr>
        <p:spPr>
          <a:xfrm>
            <a:off x="771832" y="2573082"/>
            <a:ext cx="10515600" cy="3306608"/>
          </a:xfrm>
        </p:spPr>
        <p:txBody>
          <a:bodyPr/>
          <a:lstStyle/>
          <a:p>
            <a:pPr lvl="0"/>
            <a:r>
              <a:rPr lang="en-IN" sz="3600" dirty="0">
                <a:latin typeface="Times New Roman" panose="02020603050405020304" pitchFamily="18" charset="0"/>
                <a:cs typeface="Times New Roman" panose="02020603050405020304" pitchFamily="18" charset="0"/>
              </a:rPr>
              <a:t>To detect cybersecurity incidents in real time. </a:t>
            </a:r>
          </a:p>
          <a:p>
            <a:pPr lvl="0"/>
            <a:r>
              <a:rPr lang="en-IN" sz="3600" dirty="0">
                <a:latin typeface="Times New Roman" panose="02020603050405020304" pitchFamily="18" charset="0"/>
                <a:cs typeface="Times New Roman" panose="02020603050405020304" pitchFamily="18" charset="0"/>
              </a:rPr>
              <a:t>To identify vulnerabilities in systems and networks. </a:t>
            </a:r>
          </a:p>
          <a:p>
            <a:pPr lvl="0"/>
            <a:r>
              <a:rPr lang="en-IN" sz="3600" dirty="0">
                <a:latin typeface="Times New Roman" panose="02020603050405020304" pitchFamily="18" charset="0"/>
                <a:cs typeface="Times New Roman" panose="02020603050405020304" pitchFamily="18" charset="0"/>
              </a:rPr>
              <a:t>To automate the incident response workflow. </a:t>
            </a:r>
          </a:p>
          <a:p>
            <a:pPr lvl="0"/>
            <a:r>
              <a:rPr lang="en-IN" sz="3600" dirty="0">
                <a:latin typeface="Times New Roman" panose="02020603050405020304" pitchFamily="18" charset="0"/>
                <a:cs typeface="Times New Roman" panose="02020603050405020304" pitchFamily="18" charset="0"/>
              </a:rPr>
              <a:t>To reduce incident response time and improve security. </a:t>
            </a:r>
          </a:p>
          <a:p>
            <a:pPr lvl="0"/>
            <a:r>
              <a:rPr lang="en-IN" sz="3600" dirty="0">
                <a:latin typeface="Times New Roman" panose="02020603050405020304" pitchFamily="18" charset="0"/>
                <a:cs typeface="Times New Roman" panose="02020603050405020304" pitchFamily="18" charset="0"/>
              </a:rPr>
              <a:t>To generate real-time dashboards and security reports. </a:t>
            </a:r>
          </a:p>
          <a:p>
            <a:endParaRPr lang="en-IN" dirty="0"/>
          </a:p>
        </p:txBody>
      </p:sp>
      <p:pic>
        <p:nvPicPr>
          <p:cNvPr id="3" name="Picture 2">
            <a:extLst>
              <a:ext uri="{FF2B5EF4-FFF2-40B4-BE49-F238E27FC236}">
                <a16:creationId xmlns:a16="http://schemas.microsoft.com/office/drawing/2014/main" id="{D907B455-8CE1-53CF-A1E7-873C015A0EB1}"/>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1333171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E20B8-FAF8-BE67-BE84-8BB617BC4147}"/>
              </a:ext>
            </a:extLst>
          </p:cNvPr>
          <p:cNvSpPr>
            <a:spLocks noGrp="1"/>
          </p:cNvSpPr>
          <p:nvPr>
            <p:ph type="title"/>
          </p:nvPr>
        </p:nvSpPr>
        <p:spPr>
          <a:xfrm>
            <a:off x="730046" y="1023886"/>
            <a:ext cx="10515600" cy="1325563"/>
          </a:xfrm>
        </p:spPr>
        <p:txBody>
          <a:bodyPr>
            <a:normAutofit/>
          </a:bodyPr>
          <a:lstStyle/>
          <a:p>
            <a:r>
              <a:rPr lang="en-US" sz="4800" dirty="0">
                <a:latin typeface="Algerian" panose="04020705040A02060702" pitchFamily="82" charset="0"/>
              </a:rPr>
              <a:t>             LITERATURE REVIEW</a:t>
            </a:r>
            <a:endParaRPr lang="en-IN" sz="4800" dirty="0">
              <a:latin typeface="Algerian" panose="04020705040A02060702" pitchFamily="82" charset="0"/>
            </a:endParaRPr>
          </a:p>
        </p:txBody>
      </p:sp>
      <p:graphicFrame>
        <p:nvGraphicFramePr>
          <p:cNvPr id="3" name="Content Placeholder 2">
            <a:extLst>
              <a:ext uri="{FF2B5EF4-FFF2-40B4-BE49-F238E27FC236}">
                <a16:creationId xmlns:a16="http://schemas.microsoft.com/office/drawing/2014/main" id="{F70FB595-3070-E06D-A7EF-A8FB17A1AFEB}"/>
              </a:ext>
            </a:extLst>
          </p:cNvPr>
          <p:cNvGraphicFramePr>
            <a:graphicFrameLocks noGrp="1"/>
          </p:cNvGraphicFramePr>
          <p:nvPr>
            <p:ph idx="1"/>
            <p:extLst>
              <p:ext uri="{D42A27DB-BD31-4B8C-83A1-F6EECF244321}">
                <p14:modId xmlns:p14="http://schemas.microsoft.com/office/powerpoint/2010/main" val="2210841206"/>
              </p:ext>
            </p:extLst>
          </p:nvPr>
        </p:nvGraphicFramePr>
        <p:xfrm>
          <a:off x="501446" y="2064313"/>
          <a:ext cx="10852353" cy="4386114"/>
        </p:xfrm>
        <a:graphic>
          <a:graphicData uri="http://schemas.openxmlformats.org/drawingml/2006/table">
            <a:tbl>
              <a:tblPr firstRow="1" bandRow="1">
                <a:tableStyleId>{5C22544A-7EE6-4342-B048-85BDC9FD1C3A}</a:tableStyleId>
              </a:tblPr>
              <a:tblGrid>
                <a:gridCol w="2379495">
                  <a:extLst>
                    <a:ext uri="{9D8B030D-6E8A-4147-A177-3AD203B41FA5}">
                      <a16:colId xmlns:a16="http://schemas.microsoft.com/office/drawing/2014/main" val="3279424973"/>
                    </a:ext>
                  </a:extLst>
                </a:gridCol>
                <a:gridCol w="2824286">
                  <a:extLst>
                    <a:ext uri="{9D8B030D-6E8A-4147-A177-3AD203B41FA5}">
                      <a16:colId xmlns:a16="http://schemas.microsoft.com/office/drawing/2014/main" val="431064600"/>
                    </a:ext>
                  </a:extLst>
                </a:gridCol>
                <a:gridCol w="2824286">
                  <a:extLst>
                    <a:ext uri="{9D8B030D-6E8A-4147-A177-3AD203B41FA5}">
                      <a16:colId xmlns:a16="http://schemas.microsoft.com/office/drawing/2014/main" val="1661212513"/>
                    </a:ext>
                  </a:extLst>
                </a:gridCol>
                <a:gridCol w="2824286">
                  <a:extLst>
                    <a:ext uri="{9D8B030D-6E8A-4147-A177-3AD203B41FA5}">
                      <a16:colId xmlns:a16="http://schemas.microsoft.com/office/drawing/2014/main" val="3700138122"/>
                    </a:ext>
                  </a:extLst>
                </a:gridCol>
              </a:tblGrid>
              <a:tr h="681427">
                <a:tc>
                  <a:txBody>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AUTHORS</a:t>
                      </a:r>
                      <a:endParaRPr lang="en-IN" sz="2400" dirty="0">
                        <a:latin typeface="Times New Roman" panose="02020603050405020304" pitchFamily="18" charset="0"/>
                        <a:cs typeface="Times New Roman" panose="02020603050405020304" pitchFamily="18" charset="0"/>
                      </a:endParaRPr>
                    </a:p>
                  </a:txBody>
                  <a:tcPr>
                    <a:solidFill>
                      <a:schemeClr val="tx2">
                        <a:lumMod val="50000"/>
                        <a:lumOff val="50000"/>
                      </a:schemeClr>
                    </a:solidFill>
                  </a:tcPr>
                </a:tc>
                <a:tc>
                  <a:txBody>
                    <a:bodyPr/>
                    <a:lstStyle/>
                    <a:p>
                      <a:r>
                        <a:rPr lang="en-US" sz="2400" dirty="0">
                          <a:latin typeface="Times New Roman" panose="02020603050405020304" pitchFamily="18" charset="0"/>
                          <a:cs typeface="Times New Roman" panose="02020603050405020304" pitchFamily="18" charset="0"/>
                        </a:rPr>
                        <a:t>PUBLICATION YEAR</a:t>
                      </a:r>
                      <a:endParaRPr lang="en-IN" sz="2400" dirty="0">
                        <a:latin typeface="Times New Roman" panose="02020603050405020304" pitchFamily="18" charset="0"/>
                        <a:cs typeface="Times New Roman" panose="02020603050405020304" pitchFamily="18" charset="0"/>
                      </a:endParaRPr>
                    </a:p>
                  </a:txBody>
                  <a:tcPr>
                    <a:solidFill>
                      <a:schemeClr val="tx2">
                        <a:lumMod val="50000"/>
                        <a:lumOff val="50000"/>
                      </a:schemeClr>
                    </a:solidFill>
                  </a:tcPr>
                </a:tc>
                <a:tc>
                  <a:txBody>
                    <a:bodyPr/>
                    <a:lstStyle/>
                    <a:p>
                      <a:r>
                        <a:rPr lang="en-US" sz="2400" dirty="0">
                          <a:latin typeface="Times New Roman" panose="02020603050405020304" pitchFamily="18" charset="0"/>
                          <a:cs typeface="Times New Roman" panose="02020603050405020304" pitchFamily="18" charset="0"/>
                        </a:rPr>
                        <a:t>TITLE OF THE YEAR</a:t>
                      </a:r>
                      <a:endParaRPr lang="en-IN" sz="2400" dirty="0">
                        <a:latin typeface="Times New Roman" panose="02020603050405020304" pitchFamily="18" charset="0"/>
                        <a:cs typeface="Times New Roman" panose="02020603050405020304" pitchFamily="18" charset="0"/>
                      </a:endParaRPr>
                    </a:p>
                  </a:txBody>
                  <a:tcPr>
                    <a:solidFill>
                      <a:schemeClr val="tx2">
                        <a:lumMod val="50000"/>
                        <a:lumOff val="50000"/>
                      </a:schemeClr>
                    </a:solidFill>
                  </a:tcPr>
                </a:tc>
                <a:tc>
                  <a:txBody>
                    <a:bodyPr/>
                    <a:lstStyle/>
                    <a:p>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MERITS / DEMERITS</a:t>
                      </a:r>
                      <a:endParaRPr lang="en-IN" sz="2400" dirty="0">
                        <a:latin typeface="Times New Roman" panose="02020603050405020304" pitchFamily="18" charset="0"/>
                        <a:cs typeface="Times New Roman" panose="02020603050405020304" pitchFamily="18" charset="0"/>
                      </a:endParaRPr>
                    </a:p>
                  </a:txBody>
                  <a:tcPr>
                    <a:solidFill>
                      <a:schemeClr val="tx2">
                        <a:lumMod val="50000"/>
                        <a:lumOff val="50000"/>
                      </a:schemeClr>
                    </a:solidFill>
                  </a:tcPr>
                </a:tc>
                <a:extLst>
                  <a:ext uri="{0D108BD9-81ED-4DB2-BD59-A6C34878D82A}">
                    <a16:rowId xmlns:a16="http://schemas.microsoft.com/office/drawing/2014/main" val="3773837984"/>
                  </a:ext>
                </a:extLst>
              </a:tr>
              <a:tr h="1185714">
                <a:tc>
                  <a:txBody>
                    <a:bodyPr/>
                    <a:lstStyle/>
                    <a:p>
                      <a:r>
                        <a:rPr lang="en-IN" sz="1600" dirty="0">
                          <a:latin typeface="Times New Roman" panose="02020603050405020304" pitchFamily="18" charset="0"/>
                          <a:cs typeface="Times New Roman" panose="02020603050405020304" pitchFamily="18" charset="0"/>
                        </a:rPr>
                        <a:t>Michael Bitzer et al.</a:t>
                      </a:r>
                    </a:p>
                  </a:txBody>
                  <a:tcPr/>
                </a:tc>
                <a:tc>
                  <a:txBody>
                    <a:bodyPr/>
                    <a:lstStyle/>
                    <a:p>
                      <a:r>
                        <a:rPr lang="en-IN" sz="1600" b="1"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Managing the Inevitable: A Maturity Model to Establish Incident Response Management Capabilities</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Improves incident response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Does not include automated vulnerability management. </a:t>
                      </a:r>
                    </a:p>
                  </a:txBody>
                  <a:tcPr/>
                </a:tc>
                <a:extLst>
                  <a:ext uri="{0D108BD9-81ED-4DB2-BD59-A6C34878D82A}">
                    <a16:rowId xmlns:a16="http://schemas.microsoft.com/office/drawing/2014/main" val="1159777510"/>
                  </a:ext>
                </a:extLst>
              </a:tr>
              <a:tr h="998497">
                <a:tc>
                  <a:txBody>
                    <a:bodyPr/>
                    <a:lstStyle/>
                    <a:p>
                      <a:r>
                        <a:rPr lang="en-IN" sz="1600" dirty="0">
                          <a:latin typeface="Times New Roman" panose="02020603050405020304" pitchFamily="18" charset="0"/>
                          <a:cs typeface="Times New Roman" panose="02020603050405020304" pitchFamily="18" charset="0"/>
                        </a:rPr>
                        <a:t>Gulay et al.</a:t>
                      </a:r>
                    </a:p>
                  </a:txBody>
                  <a:tcPr/>
                </a:tc>
                <a:tc>
                  <a:txBody>
                    <a:bodyPr/>
                    <a:lstStyle/>
                    <a:p>
                      <a:r>
                        <a:rPr lang="en-IN" sz="1600" b="1"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Cybersecurity Incident Prioritization</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prioritize security incidents.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Does not automate the complete response process.</a:t>
                      </a:r>
                    </a:p>
                  </a:txBody>
                  <a:tcPr/>
                </a:tc>
                <a:extLst>
                  <a:ext uri="{0D108BD9-81ED-4DB2-BD59-A6C34878D82A}">
                    <a16:rowId xmlns:a16="http://schemas.microsoft.com/office/drawing/2014/main" val="1749296979"/>
                  </a:ext>
                </a:extLst>
              </a:tr>
              <a:tr h="1185714">
                <a:tc>
                  <a:txBody>
                    <a:bodyPr/>
                    <a:lstStyle/>
                    <a:p>
                      <a:r>
                        <a:rPr lang="en-IN" sz="1600" dirty="0">
                          <a:latin typeface="Times New Roman" panose="02020603050405020304" pitchFamily="18" charset="0"/>
                          <a:cs typeface="Times New Roman" panose="02020603050405020304" pitchFamily="18" charset="0"/>
                        </a:rPr>
                        <a:t>Ziegler et al.</a:t>
                      </a:r>
                    </a:p>
                  </a:txBody>
                  <a:tcPr/>
                </a:tc>
                <a:tc>
                  <a:txBody>
                    <a:bodyPr/>
                    <a:lstStyle/>
                    <a:p>
                      <a:r>
                        <a:rPr lang="en-IN" sz="1600" b="1" dirty="0">
                          <a:latin typeface="Times New Roman" panose="02020603050405020304" pitchFamily="18" charset="0"/>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Security Incident Response Process</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Improves incident response management.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to specific security systems.</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0220083"/>
                  </a:ext>
                </a:extLst>
              </a:tr>
            </a:tbl>
          </a:graphicData>
        </a:graphic>
      </p:graphicFrame>
      <p:pic>
        <p:nvPicPr>
          <p:cNvPr id="5" name="Picture 4">
            <a:extLst>
              <a:ext uri="{FF2B5EF4-FFF2-40B4-BE49-F238E27FC236}">
                <a16:creationId xmlns:a16="http://schemas.microsoft.com/office/drawing/2014/main" id="{71581C11-12B6-01E7-AD90-E53BA21E4130}"/>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317503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DFB9-7622-3CA4-F25D-2004783A4D20}"/>
              </a:ext>
            </a:extLst>
          </p:cNvPr>
          <p:cNvSpPr>
            <a:spLocks noGrp="1"/>
          </p:cNvSpPr>
          <p:nvPr>
            <p:ph type="title"/>
          </p:nvPr>
        </p:nvSpPr>
        <p:spPr>
          <a:xfrm>
            <a:off x="651388" y="942720"/>
            <a:ext cx="10515600" cy="1325563"/>
          </a:xfrm>
        </p:spPr>
        <p:txBody>
          <a:bodyPr>
            <a:normAutofit/>
          </a:bodyPr>
          <a:lstStyle/>
          <a:p>
            <a:r>
              <a:rPr lang="en-US" sz="4800" dirty="0">
                <a:latin typeface="Algerian" panose="04020705040A02060702" pitchFamily="82" charset="0"/>
              </a:rPr>
              <a:t>                           </a:t>
            </a:r>
            <a:endParaRPr lang="en-IN" sz="4800" dirty="0">
              <a:latin typeface="Algerian" panose="04020705040A02060702" pitchFamily="82" charset="0"/>
            </a:endParaRPr>
          </a:p>
        </p:txBody>
      </p:sp>
      <p:pic>
        <p:nvPicPr>
          <p:cNvPr id="5" name="Picture 4">
            <a:extLst>
              <a:ext uri="{FF2B5EF4-FFF2-40B4-BE49-F238E27FC236}">
                <a16:creationId xmlns:a16="http://schemas.microsoft.com/office/drawing/2014/main" id="{E21FE66F-1188-8D73-81FB-5B0B56C77411}"/>
              </a:ext>
            </a:extLst>
          </p:cNvPr>
          <p:cNvPicPr/>
          <p:nvPr/>
        </p:nvPicPr>
        <p:blipFill>
          <a:blip r:embed="rId2"/>
          <a:stretch>
            <a:fillRect/>
          </a:stretch>
        </p:blipFill>
        <p:spPr>
          <a:xfrm>
            <a:off x="1975055" y="20392"/>
            <a:ext cx="7239000" cy="1109345"/>
          </a:xfrm>
          <a:prstGeom prst="rect">
            <a:avLst/>
          </a:prstGeom>
        </p:spPr>
      </p:pic>
      <p:sp>
        <p:nvSpPr>
          <p:cNvPr id="14" name="TextBox 13">
            <a:extLst>
              <a:ext uri="{FF2B5EF4-FFF2-40B4-BE49-F238E27FC236}">
                <a16:creationId xmlns:a16="http://schemas.microsoft.com/office/drawing/2014/main" id="{7203A93C-E0EC-F570-218F-508C0A41BC6C}"/>
              </a:ext>
            </a:extLst>
          </p:cNvPr>
          <p:cNvSpPr txBox="1"/>
          <p:nvPr/>
        </p:nvSpPr>
        <p:spPr>
          <a:xfrm>
            <a:off x="0" y="1304890"/>
            <a:ext cx="10087897" cy="769441"/>
          </a:xfrm>
          <a:prstGeom prst="rect">
            <a:avLst/>
          </a:prstGeom>
          <a:noFill/>
        </p:spPr>
        <p:txBody>
          <a:bodyPr wrap="square">
            <a:spAutoFit/>
          </a:bodyPr>
          <a:lstStyle/>
          <a:p>
            <a:r>
              <a:rPr lang="en-US" sz="1800" dirty="0">
                <a:latin typeface="Algerian" panose="04020705040A02060702" pitchFamily="82" charset="0"/>
              </a:rPr>
              <a:t>                                                </a:t>
            </a:r>
            <a:r>
              <a:rPr lang="en-US" sz="4400" dirty="0">
                <a:latin typeface="Algerian" panose="04020705040A02060702" pitchFamily="82" charset="0"/>
              </a:rPr>
              <a:t>ARCHITECTURE </a:t>
            </a:r>
            <a:r>
              <a:rPr lang="en-US" sz="4400" dirty="0" err="1">
                <a:latin typeface="Algerian" panose="04020705040A02060702" pitchFamily="82" charset="0"/>
              </a:rPr>
              <a:t>DIAGRam</a:t>
            </a:r>
            <a:r>
              <a:rPr lang="en-US" sz="4400" dirty="0">
                <a:latin typeface="Algerian" panose="04020705040A02060702" pitchFamily="82" charset="0"/>
              </a:rPr>
              <a:t> </a:t>
            </a:r>
            <a:endParaRPr lang="en-IN" sz="4400" dirty="0"/>
          </a:p>
        </p:txBody>
      </p:sp>
      <p:sp>
        <p:nvSpPr>
          <p:cNvPr id="7" name="AutoShape 8">
            <a:extLst>
              <a:ext uri="{FF2B5EF4-FFF2-40B4-BE49-F238E27FC236}">
                <a16:creationId xmlns:a16="http://schemas.microsoft.com/office/drawing/2014/main" id="{2D284C9B-F2D6-4202-9BE1-29535292C7D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93C908AD-8007-61EA-BFB1-7B62F88ABB1F}"/>
              </a:ext>
            </a:extLst>
          </p:cNvPr>
          <p:cNvPicPr>
            <a:picLocks noChangeAspect="1"/>
          </p:cNvPicPr>
          <p:nvPr/>
        </p:nvPicPr>
        <p:blipFill>
          <a:blip r:embed="rId3"/>
          <a:stretch>
            <a:fillRect/>
          </a:stretch>
        </p:blipFill>
        <p:spPr>
          <a:xfrm>
            <a:off x="0" y="2052065"/>
            <a:ext cx="12192000" cy="4785544"/>
          </a:xfrm>
          <a:prstGeom prst="rect">
            <a:avLst/>
          </a:prstGeom>
        </p:spPr>
      </p:pic>
    </p:spTree>
    <p:extLst>
      <p:ext uri="{BB962C8B-B14F-4D97-AF65-F5344CB8AC3E}">
        <p14:creationId xmlns:p14="http://schemas.microsoft.com/office/powerpoint/2010/main" val="110370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B07E0-E8EA-608E-96F5-0F807C6E05AC}"/>
              </a:ext>
            </a:extLst>
          </p:cNvPr>
          <p:cNvSpPr>
            <a:spLocks noGrp="1"/>
          </p:cNvSpPr>
          <p:nvPr>
            <p:ph type="title"/>
          </p:nvPr>
        </p:nvSpPr>
        <p:spPr>
          <a:xfrm>
            <a:off x="88491" y="1129737"/>
            <a:ext cx="12290322" cy="1211256"/>
          </a:xfrm>
        </p:spPr>
        <p:txBody>
          <a:bodyPr>
            <a:normAutofit/>
          </a:bodyPr>
          <a:lstStyle/>
          <a:p>
            <a:r>
              <a:rPr lang="en-US" sz="4000" dirty="0">
                <a:latin typeface="Algerian" panose="04020705040A02060702" pitchFamily="82" charset="0"/>
              </a:rPr>
              <a:t>MODULE 1:</a:t>
            </a:r>
            <a:r>
              <a:rPr lang="en-IN" sz="4000" dirty="0">
                <a:latin typeface="Algerian" panose="04020705040A02060702" pitchFamily="82" charset="0"/>
              </a:rPr>
              <a:t>Incident Detection &amp; Vulnerability Assessment</a:t>
            </a:r>
          </a:p>
        </p:txBody>
      </p:sp>
      <p:sp>
        <p:nvSpPr>
          <p:cNvPr id="3" name="Content Placeholder 2">
            <a:extLst>
              <a:ext uri="{FF2B5EF4-FFF2-40B4-BE49-F238E27FC236}">
                <a16:creationId xmlns:a16="http://schemas.microsoft.com/office/drawing/2014/main" id="{F8226A37-2AFE-00C7-8CE4-6379F361CCCA}"/>
              </a:ext>
            </a:extLst>
          </p:cNvPr>
          <p:cNvSpPr>
            <a:spLocks noGrp="1"/>
          </p:cNvSpPr>
          <p:nvPr>
            <p:ph idx="1"/>
          </p:nvPr>
        </p:nvSpPr>
        <p:spPr>
          <a:xfrm>
            <a:off x="720213" y="2333549"/>
            <a:ext cx="6059904" cy="4180723"/>
          </a:xfrm>
        </p:spPr>
        <p:txBody>
          <a:bodyPr/>
          <a:lstStyle/>
          <a:p>
            <a:pPr lvl="0"/>
            <a:r>
              <a:rPr lang="en-IN" sz="3200" dirty="0">
                <a:latin typeface="Times New Roman" panose="02020603050405020304" pitchFamily="18" charset="0"/>
                <a:cs typeface="Times New Roman" panose="02020603050405020304" pitchFamily="18" charset="0"/>
              </a:rPr>
              <a:t>Collect security logs. </a:t>
            </a:r>
          </a:p>
          <a:p>
            <a:pPr lvl="0"/>
            <a:r>
              <a:rPr lang="en-IN" sz="3200" dirty="0">
                <a:latin typeface="Times New Roman" panose="02020603050405020304" pitchFamily="18" charset="0"/>
                <a:cs typeface="Times New Roman" panose="02020603050405020304" pitchFamily="18" charset="0"/>
              </a:rPr>
              <a:t>Monitor network activities. </a:t>
            </a:r>
          </a:p>
          <a:p>
            <a:pPr lvl="0"/>
            <a:r>
              <a:rPr lang="en-IN" sz="3200" dirty="0">
                <a:latin typeface="Times New Roman" panose="02020603050405020304" pitchFamily="18" charset="0"/>
                <a:cs typeface="Times New Roman" panose="02020603050405020304" pitchFamily="18" charset="0"/>
              </a:rPr>
              <a:t>Detect suspicious </a:t>
            </a:r>
            <a:r>
              <a:rPr lang="en-IN" sz="3200" dirty="0" err="1">
                <a:latin typeface="Times New Roman" panose="02020603050405020304" pitchFamily="18" charset="0"/>
                <a:cs typeface="Times New Roman" panose="02020603050405020304" pitchFamily="18" charset="0"/>
              </a:rPr>
              <a:t>behavior</a:t>
            </a:r>
            <a:r>
              <a:rPr lang="en-IN" sz="3200" dirty="0">
                <a:latin typeface="Times New Roman" panose="02020603050405020304" pitchFamily="18" charset="0"/>
                <a:cs typeface="Times New Roman" panose="02020603050405020304" pitchFamily="18" charset="0"/>
              </a:rPr>
              <a:t>. </a:t>
            </a:r>
          </a:p>
          <a:p>
            <a:pPr lvl="0"/>
            <a:r>
              <a:rPr lang="en-IN" sz="3200" dirty="0">
                <a:latin typeface="Times New Roman" panose="02020603050405020304" pitchFamily="18" charset="0"/>
                <a:cs typeface="Times New Roman" panose="02020603050405020304" pitchFamily="18" charset="0"/>
              </a:rPr>
              <a:t>Scan systems for vulnerabilities. </a:t>
            </a:r>
          </a:p>
          <a:p>
            <a:pPr lvl="0"/>
            <a:r>
              <a:rPr lang="en-IN" sz="3200" dirty="0">
                <a:latin typeface="Times New Roman" panose="02020603050405020304" pitchFamily="18" charset="0"/>
                <a:cs typeface="Times New Roman" panose="02020603050405020304" pitchFamily="18" charset="0"/>
              </a:rPr>
              <a:t>Assign risk levels (Critical, High, Medium, Low). </a:t>
            </a:r>
          </a:p>
          <a:p>
            <a:pPr lvl="0"/>
            <a:r>
              <a:rPr lang="en-IN" sz="3200" dirty="0">
                <a:latin typeface="Times New Roman" panose="02020603050405020304" pitchFamily="18" charset="0"/>
                <a:cs typeface="Times New Roman" panose="02020603050405020304" pitchFamily="18" charset="0"/>
              </a:rPr>
              <a:t>Generate incident alerts.</a:t>
            </a:r>
          </a:p>
          <a:p>
            <a:endParaRPr lang="en-IN" dirty="0"/>
          </a:p>
        </p:txBody>
      </p:sp>
      <p:pic>
        <p:nvPicPr>
          <p:cNvPr id="5" name="Picture 4">
            <a:extLst>
              <a:ext uri="{FF2B5EF4-FFF2-40B4-BE49-F238E27FC236}">
                <a16:creationId xmlns:a16="http://schemas.microsoft.com/office/drawing/2014/main" id="{FACFBB0F-5F1D-6900-589C-F36323D70859}"/>
              </a:ext>
            </a:extLst>
          </p:cNvPr>
          <p:cNvPicPr>
            <a:picLocks noChangeAspect="1"/>
          </p:cNvPicPr>
          <p:nvPr/>
        </p:nvPicPr>
        <p:blipFill>
          <a:blip r:embed="rId2"/>
          <a:stretch>
            <a:fillRect/>
          </a:stretch>
        </p:blipFill>
        <p:spPr>
          <a:xfrm>
            <a:off x="6994939" y="2645811"/>
            <a:ext cx="4969043" cy="3312696"/>
          </a:xfrm>
          <a:prstGeom prst="rect">
            <a:avLst/>
          </a:prstGeom>
        </p:spPr>
      </p:pic>
      <p:pic>
        <p:nvPicPr>
          <p:cNvPr id="6" name="Picture 5">
            <a:extLst>
              <a:ext uri="{FF2B5EF4-FFF2-40B4-BE49-F238E27FC236}">
                <a16:creationId xmlns:a16="http://schemas.microsoft.com/office/drawing/2014/main" id="{CC36D7D4-F34B-8F89-4D4B-3C68BF3F2965}"/>
              </a:ext>
            </a:extLst>
          </p:cNvPr>
          <p:cNvPicPr/>
          <p:nvPr/>
        </p:nvPicPr>
        <p:blipFill>
          <a:blip r:embed="rId3"/>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287596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65F5-5FB8-E929-EF17-0A479A4F3012}"/>
              </a:ext>
            </a:extLst>
          </p:cNvPr>
          <p:cNvSpPr>
            <a:spLocks noGrp="1"/>
          </p:cNvSpPr>
          <p:nvPr>
            <p:ph type="title"/>
          </p:nvPr>
        </p:nvSpPr>
        <p:spPr>
          <a:xfrm>
            <a:off x="759543" y="1290255"/>
            <a:ext cx="10515600" cy="1325563"/>
          </a:xfrm>
        </p:spPr>
        <p:txBody>
          <a:bodyPr/>
          <a:lstStyle/>
          <a:p>
            <a:r>
              <a:rPr lang="en-US" dirty="0">
                <a:latin typeface="Algerian" panose="04020705040A02060702" pitchFamily="82" charset="0"/>
              </a:rPr>
              <a:t>       </a:t>
            </a:r>
            <a:r>
              <a:rPr lang="en-US" sz="4000" dirty="0">
                <a:latin typeface="Algerian" panose="04020705040A02060702" pitchFamily="82" charset="0"/>
              </a:rPr>
              <a:t>MODULE 2</a:t>
            </a:r>
            <a:r>
              <a:rPr lang="en-US" dirty="0">
                <a:latin typeface="Algerian" panose="04020705040A02060702" pitchFamily="82" charset="0"/>
              </a:rPr>
              <a:t>:</a:t>
            </a:r>
            <a:r>
              <a:rPr lang="en-IN" sz="4000" dirty="0">
                <a:latin typeface="Algerian" panose="04020705040A02060702" pitchFamily="82" charset="0"/>
                <a:cs typeface="Times New Roman" panose="02020603050405020304" pitchFamily="18" charset="0"/>
              </a:rPr>
              <a:t>Response Workflow &amp; Reporting</a:t>
            </a:r>
          </a:p>
        </p:txBody>
      </p:sp>
      <p:sp>
        <p:nvSpPr>
          <p:cNvPr id="3" name="Content Placeholder 2">
            <a:extLst>
              <a:ext uri="{FF2B5EF4-FFF2-40B4-BE49-F238E27FC236}">
                <a16:creationId xmlns:a16="http://schemas.microsoft.com/office/drawing/2014/main" id="{76E12CAA-A1BF-69B4-52B6-EAFF50B76BEA}"/>
              </a:ext>
            </a:extLst>
          </p:cNvPr>
          <p:cNvSpPr>
            <a:spLocks noGrp="1"/>
          </p:cNvSpPr>
          <p:nvPr>
            <p:ph idx="1"/>
          </p:nvPr>
        </p:nvSpPr>
        <p:spPr>
          <a:xfrm>
            <a:off x="322395" y="2533090"/>
            <a:ext cx="6785810" cy="4203032"/>
          </a:xfrm>
        </p:spPr>
        <p:txBody>
          <a:bodyPr/>
          <a:lstStyle/>
          <a:p>
            <a:pPr lvl="0"/>
            <a:r>
              <a:rPr lang="en-IN" sz="3200" dirty="0">
                <a:latin typeface="Times New Roman" panose="02020603050405020304" pitchFamily="18" charset="0"/>
                <a:cs typeface="Times New Roman" panose="02020603050405020304" pitchFamily="18" charset="0"/>
              </a:rPr>
              <a:t>Create incident tickets automatically. </a:t>
            </a:r>
          </a:p>
          <a:p>
            <a:pPr lvl="0"/>
            <a:r>
              <a:rPr lang="en-IN" sz="3200" dirty="0">
                <a:latin typeface="Times New Roman" panose="02020603050405020304" pitchFamily="18" charset="0"/>
                <a:cs typeface="Times New Roman" panose="02020603050405020304" pitchFamily="18" charset="0"/>
              </a:rPr>
              <a:t>Notify security administrators. </a:t>
            </a:r>
          </a:p>
          <a:p>
            <a:pPr lvl="0"/>
            <a:r>
              <a:rPr lang="en-IN" sz="3200" dirty="0">
                <a:latin typeface="Times New Roman" panose="02020603050405020304" pitchFamily="18" charset="0"/>
                <a:cs typeface="Times New Roman" panose="02020603050405020304" pitchFamily="18" charset="0"/>
              </a:rPr>
              <a:t>Track incident status. </a:t>
            </a:r>
          </a:p>
          <a:p>
            <a:pPr lvl="0"/>
            <a:r>
              <a:rPr lang="en-IN" sz="3200" dirty="0">
                <a:latin typeface="Times New Roman" panose="02020603050405020304" pitchFamily="18" charset="0"/>
                <a:cs typeface="Times New Roman" panose="02020603050405020304" pitchFamily="18" charset="0"/>
              </a:rPr>
              <a:t>Store incident history. </a:t>
            </a:r>
          </a:p>
          <a:p>
            <a:pPr lvl="0"/>
            <a:r>
              <a:rPr lang="en-IN" sz="3200" dirty="0">
                <a:latin typeface="Times New Roman" panose="02020603050405020304" pitchFamily="18" charset="0"/>
                <a:cs typeface="Times New Roman" panose="02020603050405020304" pitchFamily="18" charset="0"/>
              </a:rPr>
              <a:t>Generate dashboards and reports. </a:t>
            </a:r>
          </a:p>
          <a:p>
            <a:pPr lvl="0"/>
            <a:r>
              <a:rPr lang="en-IN" sz="3200" dirty="0">
                <a:latin typeface="Times New Roman" panose="02020603050405020304" pitchFamily="18" charset="0"/>
                <a:cs typeface="Times New Roman" panose="02020603050405020304" pitchFamily="18" charset="0"/>
              </a:rPr>
              <a:t>Maintain audit logs</a:t>
            </a:r>
            <a:r>
              <a:rPr lang="en-IN" dirty="0"/>
              <a:t>.</a:t>
            </a:r>
          </a:p>
          <a:p>
            <a:endParaRPr lang="en-IN" dirty="0"/>
          </a:p>
        </p:txBody>
      </p:sp>
      <p:pic>
        <p:nvPicPr>
          <p:cNvPr id="7" name="Picture 6">
            <a:extLst>
              <a:ext uri="{FF2B5EF4-FFF2-40B4-BE49-F238E27FC236}">
                <a16:creationId xmlns:a16="http://schemas.microsoft.com/office/drawing/2014/main" id="{A27E376B-16F2-2C4C-1A4B-45D0E2871FFD}"/>
              </a:ext>
            </a:extLst>
          </p:cNvPr>
          <p:cNvPicPr>
            <a:picLocks noChangeAspect="1"/>
          </p:cNvPicPr>
          <p:nvPr/>
        </p:nvPicPr>
        <p:blipFill>
          <a:blip r:embed="rId2"/>
          <a:stretch>
            <a:fillRect/>
          </a:stretch>
        </p:blipFill>
        <p:spPr>
          <a:xfrm>
            <a:off x="6996622" y="2776337"/>
            <a:ext cx="5005137" cy="3716537"/>
          </a:xfrm>
          <a:prstGeom prst="rect">
            <a:avLst/>
          </a:prstGeom>
        </p:spPr>
      </p:pic>
      <p:pic>
        <p:nvPicPr>
          <p:cNvPr id="8" name="Picture 7">
            <a:extLst>
              <a:ext uri="{FF2B5EF4-FFF2-40B4-BE49-F238E27FC236}">
                <a16:creationId xmlns:a16="http://schemas.microsoft.com/office/drawing/2014/main" id="{55A1B7C6-F2DB-04D5-FE2E-ADEF2221150B}"/>
              </a:ext>
            </a:extLst>
          </p:cNvPr>
          <p:cNvPicPr/>
          <p:nvPr/>
        </p:nvPicPr>
        <p:blipFill>
          <a:blip r:embed="rId3"/>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817619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ACAFC-A58A-74BC-434F-16FEB8468487}"/>
              </a:ext>
            </a:extLst>
          </p:cNvPr>
          <p:cNvSpPr>
            <a:spLocks noGrp="1"/>
          </p:cNvSpPr>
          <p:nvPr>
            <p:ph type="title"/>
          </p:nvPr>
        </p:nvSpPr>
        <p:spPr>
          <a:xfrm>
            <a:off x="703847" y="1053383"/>
            <a:ext cx="10515600" cy="1325563"/>
          </a:xfrm>
        </p:spPr>
        <p:txBody>
          <a:bodyPr/>
          <a:lstStyle/>
          <a:p>
            <a:r>
              <a:rPr lang="en-US" dirty="0">
                <a:latin typeface="Algerian" panose="04020705040A02060702" pitchFamily="82" charset="0"/>
              </a:rPr>
              <a:t>             FUTURE ENHANCEMENT</a:t>
            </a:r>
            <a:endParaRPr lang="en-IN" dirty="0">
              <a:latin typeface="Algerian" panose="04020705040A02060702" pitchFamily="82" charset="0"/>
            </a:endParaRPr>
          </a:p>
        </p:txBody>
      </p:sp>
      <p:pic>
        <p:nvPicPr>
          <p:cNvPr id="5" name="Picture 4">
            <a:extLst>
              <a:ext uri="{FF2B5EF4-FFF2-40B4-BE49-F238E27FC236}">
                <a16:creationId xmlns:a16="http://schemas.microsoft.com/office/drawing/2014/main" id="{DA5A6DD4-76C9-C33C-BAAA-DB2B63F674D0}"/>
              </a:ext>
            </a:extLst>
          </p:cNvPr>
          <p:cNvPicPr/>
          <p:nvPr/>
        </p:nvPicPr>
        <p:blipFill>
          <a:blip r:embed="rId2"/>
          <a:stretch>
            <a:fillRect/>
          </a:stretch>
        </p:blipFill>
        <p:spPr>
          <a:xfrm>
            <a:off x="1975055" y="20392"/>
            <a:ext cx="7239000" cy="1109345"/>
          </a:xfrm>
          <a:prstGeom prst="rect">
            <a:avLst/>
          </a:prstGeom>
        </p:spPr>
      </p:pic>
      <p:sp>
        <p:nvSpPr>
          <p:cNvPr id="3" name="Rectangle 1">
            <a:extLst>
              <a:ext uri="{FF2B5EF4-FFF2-40B4-BE49-F238E27FC236}">
                <a16:creationId xmlns:a16="http://schemas.microsoft.com/office/drawing/2014/main" id="{417DC5C3-B9C6-9DE4-D77F-13B7A3E8B5CF}"/>
              </a:ext>
            </a:extLst>
          </p:cNvPr>
          <p:cNvSpPr>
            <a:spLocks noGrp="1" noChangeArrowheads="1"/>
          </p:cNvSpPr>
          <p:nvPr>
            <p:ph idx="1"/>
          </p:nvPr>
        </p:nvSpPr>
        <p:spPr bwMode="auto">
          <a:xfrm>
            <a:off x="905167" y="2267372"/>
            <a:ext cx="10381666" cy="3945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dirty="0">
                <a:latin typeface="Times New Roman" panose="02020603050405020304" pitchFamily="18" charset="0"/>
                <a:cs typeface="Times New Roman" panose="02020603050405020304" pitchFamily="18" charset="0"/>
              </a:rPr>
              <a:t>AI-based threat prediction. </a:t>
            </a:r>
          </a:p>
          <a:p>
            <a:pPr lvl="0"/>
            <a:r>
              <a:rPr lang="en-IN" dirty="0">
                <a:latin typeface="Times New Roman" panose="02020603050405020304" pitchFamily="18" charset="0"/>
                <a:cs typeface="Times New Roman" panose="02020603050405020304" pitchFamily="18" charset="0"/>
              </a:rPr>
              <a:t>Machine Learning anomaly detection. </a:t>
            </a:r>
          </a:p>
          <a:p>
            <a:pPr lvl="0"/>
            <a:r>
              <a:rPr lang="en-IN" dirty="0">
                <a:latin typeface="Times New Roman" panose="02020603050405020304" pitchFamily="18" charset="0"/>
                <a:cs typeface="Times New Roman" panose="02020603050405020304" pitchFamily="18" charset="0"/>
              </a:rPr>
              <a:t>Cloud deployment. </a:t>
            </a:r>
          </a:p>
          <a:p>
            <a:pPr lvl="0"/>
            <a:r>
              <a:rPr lang="en-IN" dirty="0">
                <a:latin typeface="Times New Roman" panose="02020603050405020304" pitchFamily="18" charset="0"/>
                <a:cs typeface="Times New Roman" panose="02020603050405020304" pitchFamily="18" charset="0"/>
              </a:rPr>
              <a:t>Mobile application support. </a:t>
            </a:r>
          </a:p>
          <a:p>
            <a:pPr lvl="0"/>
            <a:r>
              <a:rPr lang="en-IN" dirty="0">
                <a:latin typeface="Times New Roman" panose="02020603050405020304" pitchFamily="18" charset="0"/>
                <a:cs typeface="Times New Roman" panose="02020603050405020304" pitchFamily="18" charset="0"/>
              </a:rPr>
              <a:t>Blockchain audit logs. </a:t>
            </a:r>
          </a:p>
          <a:p>
            <a:pPr lvl="0"/>
            <a:r>
              <a:rPr lang="en-IN" dirty="0">
                <a:latin typeface="Times New Roman" panose="02020603050405020304" pitchFamily="18" charset="0"/>
                <a:cs typeface="Times New Roman" panose="02020603050405020304" pitchFamily="18" charset="0"/>
              </a:rPr>
              <a:t>Automatic patch management. </a:t>
            </a:r>
          </a:p>
          <a:p>
            <a:pPr lvl="0"/>
            <a:r>
              <a:rPr lang="en-IN" dirty="0">
                <a:latin typeface="Times New Roman" panose="02020603050405020304" pitchFamily="18" charset="0"/>
                <a:cs typeface="Times New Roman" panose="02020603050405020304" pitchFamily="18" charset="0"/>
              </a:rPr>
              <a:t>Integration with SIEM and SOAR platforms.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0264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054E-34C2-DD5F-A7C4-373857BFEEB2}"/>
              </a:ext>
            </a:extLst>
          </p:cNvPr>
          <p:cNvSpPr>
            <a:spLocks noGrp="1"/>
          </p:cNvSpPr>
          <p:nvPr>
            <p:ph type="title"/>
          </p:nvPr>
        </p:nvSpPr>
        <p:spPr>
          <a:xfrm>
            <a:off x="464574" y="937803"/>
            <a:ext cx="10515600" cy="1325563"/>
          </a:xfrm>
        </p:spPr>
        <p:txBody>
          <a:bodyPr>
            <a:normAutofit/>
          </a:bodyPr>
          <a:lstStyle/>
          <a:p>
            <a:r>
              <a:rPr lang="en-US" sz="4800" dirty="0">
                <a:latin typeface="Algerian" panose="04020705040A02060702" pitchFamily="82" charset="0"/>
              </a:rPr>
              <a:t>                       CONCLUSION</a:t>
            </a:r>
            <a:endParaRPr lang="en-IN" sz="4800" dirty="0">
              <a:latin typeface="Algerian" panose="04020705040A02060702" pitchFamily="82" charset="0"/>
            </a:endParaRPr>
          </a:p>
        </p:txBody>
      </p:sp>
      <p:sp>
        <p:nvSpPr>
          <p:cNvPr id="3" name="Content Placeholder 2">
            <a:extLst>
              <a:ext uri="{FF2B5EF4-FFF2-40B4-BE49-F238E27FC236}">
                <a16:creationId xmlns:a16="http://schemas.microsoft.com/office/drawing/2014/main" id="{7B82BF72-F474-3D91-D48D-482DBCC25CE9}"/>
              </a:ext>
            </a:extLst>
          </p:cNvPr>
          <p:cNvSpPr>
            <a:spLocks noGrp="1"/>
          </p:cNvSpPr>
          <p:nvPr>
            <p:ph idx="1"/>
          </p:nvPr>
        </p:nvSpPr>
        <p:spPr>
          <a:xfrm>
            <a:off x="838200" y="2071431"/>
            <a:ext cx="10515600" cy="4351338"/>
          </a:xfrm>
        </p:spPr>
        <p:txBody>
          <a:bodyPr>
            <a:normAutofit/>
          </a:bodyPr>
          <a:lstStyle/>
          <a:p>
            <a:pPr marL="0" indent="0">
              <a:buNone/>
            </a:pPr>
            <a:r>
              <a:rPr lang="en-IN" sz="3600" dirty="0">
                <a:latin typeface="Times New Roman" panose="02020603050405020304" pitchFamily="18" charset="0"/>
                <a:cs typeface="Times New Roman" panose="02020603050405020304" pitchFamily="18" charset="0"/>
              </a:rPr>
              <a:t>The Cybersecurity Incident, Vulnerability and Response Workflow Platform provides an efficient solution for detecting cyber threats, identifying vulnerabilities, and automating security operations. By integrating monitoring, risk assessment, and response management into a single platform, it improves organizational security, reduces response time, and supports better decision-making.</a:t>
            </a:r>
          </a:p>
        </p:txBody>
      </p:sp>
      <p:pic>
        <p:nvPicPr>
          <p:cNvPr id="4" name="Picture 3">
            <a:extLst>
              <a:ext uri="{FF2B5EF4-FFF2-40B4-BE49-F238E27FC236}">
                <a16:creationId xmlns:a16="http://schemas.microsoft.com/office/drawing/2014/main" id="{DDC7387F-46F7-34C7-72F6-47A9637A420D}"/>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2691721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F79B-8A29-A723-09FC-56EF0F32948E}"/>
              </a:ext>
            </a:extLst>
          </p:cNvPr>
          <p:cNvSpPr>
            <a:spLocks noGrp="1"/>
          </p:cNvSpPr>
          <p:nvPr>
            <p:ph type="title"/>
          </p:nvPr>
        </p:nvSpPr>
        <p:spPr>
          <a:xfrm>
            <a:off x="1280651" y="1044627"/>
            <a:ext cx="10515600" cy="1325563"/>
          </a:xfrm>
        </p:spPr>
        <p:txBody>
          <a:bodyPr/>
          <a:lstStyle/>
          <a:p>
            <a:r>
              <a:rPr lang="en-US" dirty="0"/>
              <a:t>                         </a:t>
            </a:r>
            <a:r>
              <a:rPr lang="en-US" sz="4800" dirty="0">
                <a:latin typeface="Algerian" panose="04020705040A02060702" pitchFamily="82" charset="0"/>
              </a:rPr>
              <a:t>REFERENCES</a:t>
            </a:r>
            <a:endParaRPr lang="en-IN" sz="4800" dirty="0">
              <a:latin typeface="Algerian" panose="04020705040A02060702" pitchFamily="82" charset="0"/>
            </a:endParaRPr>
          </a:p>
        </p:txBody>
      </p:sp>
      <p:sp>
        <p:nvSpPr>
          <p:cNvPr id="8" name="Content Placeholder 7">
            <a:extLst>
              <a:ext uri="{FF2B5EF4-FFF2-40B4-BE49-F238E27FC236}">
                <a16:creationId xmlns:a16="http://schemas.microsoft.com/office/drawing/2014/main" id="{3C1305E9-B417-AFFF-22AD-1F83FB84143F}"/>
              </a:ext>
            </a:extLst>
          </p:cNvPr>
          <p:cNvSpPr>
            <a:spLocks noGrp="1"/>
          </p:cNvSpPr>
          <p:nvPr>
            <p:ph idx="1"/>
          </p:nvPr>
        </p:nvSpPr>
        <p:spPr>
          <a:xfrm>
            <a:off x="946354" y="2285080"/>
            <a:ext cx="10515600" cy="4351338"/>
          </a:xfrm>
        </p:spPr>
        <p:txBody>
          <a:bodyPr>
            <a:normAutofit fontScale="85000" lnSpcReduction="10000"/>
          </a:bodyPr>
          <a:lstStyle/>
          <a:p>
            <a:pPr lvl="0"/>
            <a:r>
              <a:rPr lang="en-IN" dirty="0">
                <a:latin typeface="Times New Roman" panose="02020603050405020304" pitchFamily="18" charset="0"/>
                <a:cs typeface="Times New Roman" panose="02020603050405020304" pitchFamily="18" charset="0"/>
              </a:rPr>
              <a:t>M. Bitzer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“Managing the Inevitable: A Maturity Model to Establish Incident Response Management Capabilities,” </a:t>
            </a:r>
            <a:r>
              <a:rPr lang="en-IN" i="1" dirty="0">
                <a:latin typeface="Times New Roman" panose="02020603050405020304" pitchFamily="18" charset="0"/>
                <a:cs typeface="Times New Roman" panose="02020603050405020304" pitchFamily="18" charset="0"/>
              </a:rPr>
              <a:t>Computers &amp; Security</a:t>
            </a:r>
            <a:r>
              <a:rPr lang="en-IN" dirty="0">
                <a:latin typeface="Times New Roman" panose="02020603050405020304" pitchFamily="18" charset="0"/>
                <a:cs typeface="Times New Roman" panose="02020603050405020304" pitchFamily="18" charset="0"/>
              </a:rPr>
              <a:t>, vol. 128, 2023. </a:t>
            </a:r>
          </a:p>
          <a:p>
            <a:pPr lvl="0"/>
            <a:r>
              <a:rPr lang="en-IN" dirty="0">
                <a:latin typeface="Times New Roman" panose="02020603050405020304" pitchFamily="18" charset="0"/>
                <a:cs typeface="Times New Roman" panose="02020603050405020304" pitchFamily="18" charset="0"/>
              </a:rPr>
              <a:t>S. Hays and J. White, “Employing LLMs for Incident Response Planning and Review,”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arXiv:2403.01271, Mar. 2024. </a:t>
            </a:r>
          </a:p>
          <a:p>
            <a:pPr lvl="0"/>
            <a:r>
              <a:rPr lang="en-IN" dirty="0">
                <a:latin typeface="Times New Roman" panose="02020603050405020304" pitchFamily="18" charset="0"/>
                <a:cs typeface="Times New Roman" panose="02020603050405020304" pitchFamily="18" charset="0"/>
              </a:rPr>
              <a:t>A. Gulay and L. Maglaras, “Alignment of Cybersecurity Incident Prioritisation with Incident Response Management Maturity Capabilities,”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arXiv:2410.02259, Oct. 2024. </a:t>
            </a:r>
          </a:p>
          <a:p>
            <a:pPr lvl="0"/>
            <a:r>
              <a:rPr lang="en-IN" dirty="0">
                <a:latin typeface="Times New Roman" panose="02020603050405020304" pitchFamily="18" charset="0"/>
                <a:cs typeface="Times New Roman" panose="02020603050405020304" pitchFamily="18" charset="0"/>
              </a:rPr>
              <a:t>V. </a:t>
            </a:r>
            <a:r>
              <a:rPr lang="en-IN" dirty="0" err="1">
                <a:latin typeface="Times New Roman" panose="02020603050405020304" pitchFamily="18" charset="0"/>
                <a:cs typeface="Times New Roman" panose="02020603050405020304" pitchFamily="18" charset="0"/>
              </a:rPr>
              <a:t>Minkevics</a:t>
            </a:r>
            <a:r>
              <a:rPr lang="en-IN" dirty="0">
                <a:latin typeface="Times New Roman" panose="02020603050405020304" pitchFamily="18" charset="0"/>
                <a:cs typeface="Times New Roman" panose="02020603050405020304" pitchFamily="18" charset="0"/>
              </a:rPr>
              <a:t> and J. </a:t>
            </a:r>
            <a:r>
              <a:rPr lang="en-IN" dirty="0" err="1">
                <a:latin typeface="Times New Roman" panose="02020603050405020304" pitchFamily="18" charset="0"/>
                <a:cs typeface="Times New Roman" panose="02020603050405020304" pitchFamily="18" charset="0"/>
              </a:rPr>
              <a:t>Grabis</a:t>
            </a:r>
            <a:r>
              <a:rPr lang="en-IN" dirty="0">
                <a:latin typeface="Times New Roman" panose="02020603050405020304" pitchFamily="18" charset="0"/>
                <a:cs typeface="Times New Roman" panose="02020603050405020304" pitchFamily="18" charset="0"/>
              </a:rPr>
              <a:t>, “A Capability-Driven Automated Cybersecurity Monitoring and Response System,” </a:t>
            </a:r>
            <a:r>
              <a:rPr lang="en-IN" i="1" dirty="0">
                <a:latin typeface="Times New Roman" panose="02020603050405020304" pitchFamily="18" charset="0"/>
                <a:cs typeface="Times New Roman" panose="02020603050405020304" pitchFamily="18" charset="0"/>
              </a:rPr>
              <a:t>Frontiers in Computer Science</a:t>
            </a:r>
            <a:r>
              <a:rPr lang="en-IN" dirty="0">
                <a:latin typeface="Times New Roman" panose="02020603050405020304" pitchFamily="18" charset="0"/>
                <a:cs typeface="Times New Roman" panose="02020603050405020304" pitchFamily="18" charset="0"/>
              </a:rPr>
              <a:t>, vol. 7, 2025. </a:t>
            </a:r>
          </a:p>
          <a:p>
            <a:pPr lvl="0"/>
            <a:r>
              <a:rPr lang="en-IN" dirty="0">
                <a:latin typeface="Times New Roman" panose="02020603050405020304" pitchFamily="18" charset="0"/>
                <a:cs typeface="Times New Roman" panose="02020603050405020304" pitchFamily="18" charset="0"/>
              </a:rPr>
              <a:t>N. Shimizu and M. Hashimoto, “Vulnerability Management Chaining: An Integrated Framework for Efficient Cybersecurity Risk Prioritization,”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2025.</a:t>
            </a:r>
          </a:p>
          <a:p>
            <a:endParaRPr lang="en-IN" dirty="0"/>
          </a:p>
        </p:txBody>
      </p:sp>
      <p:pic>
        <p:nvPicPr>
          <p:cNvPr id="4" name="Picture 3">
            <a:extLst>
              <a:ext uri="{FF2B5EF4-FFF2-40B4-BE49-F238E27FC236}">
                <a16:creationId xmlns:a16="http://schemas.microsoft.com/office/drawing/2014/main" id="{C0D61BA5-4A12-1CAA-D1C0-4C3FCC50D0E4}"/>
              </a:ext>
            </a:extLst>
          </p:cNvPr>
          <p:cNvPicPr/>
          <p:nvPr/>
        </p:nvPicPr>
        <p:blipFill>
          <a:blip r:embed="rId2"/>
          <a:stretch>
            <a:fillRect/>
          </a:stretch>
        </p:blipFill>
        <p:spPr>
          <a:xfrm>
            <a:off x="1975055" y="20392"/>
            <a:ext cx="7239000" cy="1109345"/>
          </a:xfrm>
          <a:prstGeom prst="rect">
            <a:avLst/>
          </a:prstGeom>
        </p:spPr>
      </p:pic>
    </p:spTree>
    <p:extLst>
      <p:ext uri="{BB962C8B-B14F-4D97-AF65-F5344CB8AC3E}">
        <p14:creationId xmlns:p14="http://schemas.microsoft.com/office/powerpoint/2010/main" val="1087308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AFFE92-6F69-C7E8-4FC5-DA7638CE6FDD}"/>
              </a:ext>
            </a:extLst>
          </p:cNvPr>
          <p:cNvSpPr txBox="1"/>
          <p:nvPr/>
        </p:nvSpPr>
        <p:spPr>
          <a:xfrm>
            <a:off x="2477730" y="2467897"/>
            <a:ext cx="8642554" cy="1569660"/>
          </a:xfrm>
          <a:prstGeom prst="rect">
            <a:avLst/>
          </a:prstGeom>
          <a:noFill/>
        </p:spPr>
        <p:txBody>
          <a:bodyPr wrap="square" rtlCol="0">
            <a:spAutoFit/>
          </a:bodyPr>
          <a:lstStyle/>
          <a:p>
            <a:r>
              <a:rPr lang="en-US" sz="9600" dirty="0">
                <a:latin typeface="Algerian" panose="04020705040A02060702" pitchFamily="82" charset="0"/>
              </a:rPr>
              <a:t>THANK YOU</a:t>
            </a:r>
            <a:endParaRPr lang="en-IN" sz="9600" dirty="0">
              <a:latin typeface="Algerian" panose="04020705040A02060702" pitchFamily="82" charset="0"/>
            </a:endParaRPr>
          </a:p>
        </p:txBody>
      </p:sp>
    </p:spTree>
    <p:extLst>
      <p:ext uri="{BB962C8B-B14F-4D97-AF65-F5344CB8AC3E}">
        <p14:creationId xmlns:p14="http://schemas.microsoft.com/office/powerpoint/2010/main" val="2087743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747</Words>
  <Application>Microsoft Office PowerPoint</Application>
  <PresentationFormat>Widescreen</PresentationFormat>
  <Paragraphs>98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Algerian</vt:lpstr>
      <vt:lpstr>Aptos</vt:lpstr>
      <vt:lpstr>Aptos Display</vt:lpstr>
      <vt:lpstr>Arial</vt:lpstr>
      <vt:lpstr>Times New Roman</vt:lpstr>
      <vt:lpstr>Office Theme</vt:lpstr>
      <vt:lpstr>Cybersecurity Incident, Vulnerability and Response Workflow Platform</vt:lpstr>
      <vt:lpstr>       Presentation OutliNE </vt:lpstr>
      <vt:lpstr>                      ABTRACT</vt:lpstr>
      <vt:lpstr>                  INTRODUCTION</vt:lpstr>
      <vt:lpstr>                PROBLEM STATEMENT</vt:lpstr>
      <vt:lpstr>                 Objective</vt:lpstr>
      <vt:lpstr>             LITERATURE REVIEW</vt:lpstr>
      <vt:lpstr>                           </vt:lpstr>
      <vt:lpstr>MODULE 1:Incident Detection &amp; Vulnerability Assessment</vt:lpstr>
      <vt:lpstr>       MODULE 2:Response Workflow &amp; Reporting</vt:lpstr>
      <vt:lpstr>             FUTURE ENHANCEMENT</vt:lpstr>
      <vt:lpstr>                       CONCLUSION</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rohinikavitha84@outlook.com</dc:creator>
  <cp:lastModifiedBy>rohinikavitha84@outlook.com</cp:lastModifiedBy>
  <cp:revision>15</cp:revision>
  <dcterms:created xsi:type="dcterms:W3CDTF">2026-02-19T18:32:21Z</dcterms:created>
  <dcterms:modified xsi:type="dcterms:W3CDTF">2026-08-03T17:24:36Z</dcterms:modified>
</cp:coreProperties>
</file>